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Montserrat SemiBold" panose="020F0502020204030204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F5D584-EC5D-4DF3-B13F-41FD3E8FF129}">
  <a:tblStyle styleId="{42F5D584-EC5D-4DF3-B13F-41FD3E8FF12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840343" y="1848891"/>
            <a:ext cx="10511313" cy="146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Projektovanje </a:t>
            </a:r>
            <a:r>
              <a:rPr lang="en-US" sz="4800" b="0" i="0" u="none" strike="noStrike" cap="none">
                <a:solidFill>
                  <a:srgbClr val="0EA5E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baze podataka</a:t>
            </a:r>
            <a:r>
              <a:rPr lang="en-US" sz="4800" b="0" i="0" u="none" strike="noStrike" cap="non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za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0" i="0" u="none" strike="noStrike" cap="non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astronomiju i astrofiziku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948112" y="3835747"/>
            <a:ext cx="4295775" cy="96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Abdurahman Karišik 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Boris Mirković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424486" y="5160762"/>
            <a:ext cx="13430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01.06.2026.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762125" y="2256829"/>
            <a:ext cx="909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Uvod: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Specifičnosti astronomskih istraživanja u odnosu na ostale nauke.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762125" y="2801540"/>
            <a:ext cx="909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Metodologija: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Faze izrade i arhitektura relacionog modela baze podataka.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762125" y="3346251"/>
            <a:ext cx="909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Rezultati: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Tabelarni i grafički prikazi generisanih podataka i izvršenih upita.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762125" y="3890962"/>
            <a:ext cx="909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Video demonstracija: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Kratak pregled izvršavanja Java aplikacije.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762125" y="4435673"/>
            <a:ext cx="909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Analiza grešaka: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Izazovi i rešenja tokom implementacije sistema.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762125" y="4980384"/>
            <a:ext cx="909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Zaključak: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Pravci daljeg razvoja i proširenja sistema.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30921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2853928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339863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33500" y="39433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33500" y="448806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33500" y="5032771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0EA5E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Sadržaj</a:t>
            </a:r>
            <a:r>
              <a:rPr lang="en-US" sz="3450" b="0" i="0" u="none" strike="noStrike" cap="non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prezentacije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600" y="1757957"/>
            <a:ext cx="52959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1757957"/>
            <a:ext cx="527685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Za razliku od standardnih domena (zajednička specifikacija), astrofizika zahteva praćenje vrlo uskih i specifičnih faktora koji direktno utiču na kvalitet posmatranja: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3431976"/>
            <a:ext cx="5276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Vremenski uslovi: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Oblačnost, seeing (lučne sekunde), vlažnost i brzina vetra.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4245173"/>
            <a:ext cx="5276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Oprema opservatorije: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Teleskopi, CCD kamere, fotometri i spektrografi.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5058370"/>
            <a:ext cx="5276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Uloge u timu: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Odvojeni procesi za dizajnere (teorija) i izvođače (merenja).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0EA5E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Uvod</a:t>
            </a:r>
            <a:r>
              <a:rPr lang="en-US" sz="3450" b="0" i="0" u="none" strike="noStrike" cap="non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i specifičnosti modela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E85685-09C7-6587-F575-F4AC2ECECE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599" y="1813986"/>
            <a:ext cx="3771901" cy="36979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00411"/>
            <a:ext cx="3492549" cy="35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00411"/>
            <a:ext cx="3492549" cy="35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00411"/>
            <a:ext cx="3492549" cy="358095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866775" y="3252936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Relacioni model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66775" y="3700611"/>
            <a:ext cx="2901999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Projektovanje treće normalne forme sa 19 tabela. Povezivanje opservatorija, sesija, resursa, alata i timova istraživača.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4645074" y="3252936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SQL Implementacija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4645074" y="3700611"/>
            <a:ext cx="2901999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Razvoj MySQL baze uz uskladištene procedure za transakcije, napredne funkcije, poglede i implementaciju optimizacionih indeksa.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423374" y="3252936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Klijentska aplikacija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423374" y="3700611"/>
            <a:ext cx="2901999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Razvoj interfejsa koristeći Java Swing. Ostvarivanje komunikacije i prosleđivanje parametrizovanih upita preko JDBC API-ja.</a:t>
            </a:r>
            <a:endParaRPr/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538561"/>
            <a:ext cx="4857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538561"/>
            <a:ext cx="3714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538561"/>
            <a:ext cx="32385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0EA5E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Metodologija</a:t>
            </a:r>
            <a:r>
              <a:rPr lang="en-US" sz="3450" b="0" i="0" u="none" strike="noStrike" cap="non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razvoja projekta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571500" y="2218432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Primer rezultata JOIN upita nad tabelama ISTRAŽIVAČ, TIM_IZVOĐAČA i OPSERVATORIJA.</a:t>
            </a:r>
            <a:endParaRPr/>
          </a:p>
        </p:txBody>
      </p:sp>
      <p:graphicFrame>
        <p:nvGraphicFramePr>
          <p:cNvPr id="142" name="Google Shape;142;p17"/>
          <p:cNvGraphicFramePr/>
          <p:nvPr>
            <p:extLst>
              <p:ext uri="{D42A27DB-BD31-4B8C-83A1-F6EECF244321}">
                <p14:modId xmlns:p14="http://schemas.microsoft.com/office/powerpoint/2010/main" val="1605661663"/>
              </p:ext>
            </p:extLst>
          </p:nvPr>
        </p:nvGraphicFramePr>
        <p:xfrm>
          <a:off x="571500" y="2791717"/>
          <a:ext cx="11049000" cy="2771750"/>
        </p:xfrm>
        <a:graphic>
          <a:graphicData uri="http://schemas.openxmlformats.org/drawingml/2006/table">
            <a:tbl>
              <a:tblPr firstRow="1" bandRow="1">
                <a:noFill/>
                <a:tableStyleId>{42F5D584-EC5D-4DF3-B13F-41FD3E8FF129}</a:tableStyleId>
              </a:tblPr>
              <a:tblGrid>
                <a:gridCol w="297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3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6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EA5E9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Ime i prezime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EA5E9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Zvanje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EA5E9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Specijalizacija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rgbClr val="0EA5E9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God. </a:t>
                      </a:r>
                      <a:r>
                        <a:rPr lang="en-US" sz="1650" b="0" i="0" u="none" strike="noStrike" cap="none" dirty="0" err="1">
                          <a:solidFill>
                            <a:srgbClr val="0EA5E9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iskustva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Thomas Mueller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Doktor</a:t>
                      </a:r>
                      <a:r>
                        <a:rPr lang="en-US" sz="1200" b="0" i="0" u="none" strike="noStrike" cap="none" dirty="0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nauka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Egzoplanete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18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Hana Novotna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Student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Astrometrija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Pierre Dubois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Profesor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Kosmologija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Fatima Al-Rashid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Doktor nauka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Kosmička prašina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19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3" name="Google Shape;143;p17"/>
          <p:cNvSpPr/>
          <p:nvPr/>
        </p:nvSpPr>
        <p:spPr>
          <a:xfrm>
            <a:off x="571500" y="3387030"/>
            <a:ext cx="297864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3550146" y="3387030"/>
            <a:ext cx="22008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5751016" y="3387030"/>
            <a:ext cx="299323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8744247" y="3387030"/>
            <a:ext cx="287625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571500" y="3929955"/>
            <a:ext cx="297864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3550146" y="3929955"/>
            <a:ext cx="22008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5751016" y="3929955"/>
            <a:ext cx="299323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8744247" y="3929955"/>
            <a:ext cx="287625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71500" y="4472880"/>
            <a:ext cx="297864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3550146" y="4472880"/>
            <a:ext cx="22008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5751016" y="4472880"/>
            <a:ext cx="299323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8744247" y="4472880"/>
            <a:ext cx="287625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571500" y="5015805"/>
            <a:ext cx="297864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3550146" y="5015805"/>
            <a:ext cx="22008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5751016" y="5015805"/>
            <a:ext cx="299323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8744247" y="5015805"/>
            <a:ext cx="287625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0EA5E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Rezultati:</a:t>
            </a:r>
            <a:r>
              <a:rPr lang="en-US" sz="3450" b="0" i="0" u="none" strike="noStrike" cap="non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Pregled istraživača u bazi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95425"/>
            <a:ext cx="11049000" cy="479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571500" y="4800600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Izlazni podaci analitičkog upita pokazuju da su teorijski okviri vezani za stelarnu evoluciju i opštu relativnost najzastupljeniji u trenutnom skupu eksperimenata baze.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0EA5E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Rezultati:</a:t>
            </a:r>
            <a:r>
              <a:rPr lang="en-US" sz="3450" b="0" i="0" u="none" strike="noStrike" cap="non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Ukupan broj sesija po teoriji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571500" y="571500"/>
            <a:ext cx="52006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Video </a:t>
            </a:r>
            <a:r>
              <a:rPr lang="en-US" sz="3450" b="0" i="0" u="none" strike="noStrike" cap="none">
                <a:solidFill>
                  <a:srgbClr val="0EA5E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demonstracija</a:t>
            </a:r>
            <a:endParaRPr/>
          </a:p>
        </p:txBody>
      </p:sp>
      <p:pic>
        <p:nvPicPr>
          <p:cNvPr id="174" name="Google Shape;17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71500" y="2461617"/>
            <a:ext cx="52006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Prikaz izvršavanja aplikacije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571500" y="3023592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Demonstriran je kratak snimak (15 - 30 sekundi) interakcije sa razvijenom Java aplikacijom.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571500" y="3836789"/>
            <a:ext cx="495300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Na snimku su prikazane osnovne CRUD funkcionalnosti korisničkog interfejsa: proces autentifikacije, generisanje dinamičkih pregleda laboratorija i sigurno brisanje naloga.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57735"/>
            <a:ext cx="5286375" cy="3066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57735"/>
            <a:ext cx="5286375" cy="306645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962025" y="2748260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Ograničenja i modelovanje sesija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962025" y="3214985"/>
            <a:ext cx="4505325" cy="167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Zahtev da se sesije ne preklapaju nije rešen direktno u bazi (zbog MySQL ograničenja vezanih za CHECK constraints), već je provera integriteta uspešno delegirana na aplikacioni sloj.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6724650" y="2748260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Transakcije vs. Trigeri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6724650" y="3214985"/>
            <a:ext cx="4505325" cy="167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 cilju izbegavanja složenog debagovanja trigera, automatsko ažuriranje inventara resursa obavlja se isključivo putem uskladištene procedure, u okviru izolovane SQL transakcije.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0EA5E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Analiza</a:t>
            </a:r>
            <a:r>
              <a:rPr lang="en-US" sz="3450" b="0" i="0" u="none" strike="noStrike" cap="non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grešaka i izazovi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600" y="1830288"/>
            <a:ext cx="52959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571500" y="1830288"/>
            <a:ext cx="52768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Baza podataka efikasno beleži sve aspekte posmatračke astronomije. Prepoznati su sledeći potencijali za dalji razvoj: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571500" y="3216771"/>
            <a:ext cx="5276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Integracija sa globalnim astronomskim katalozima (Simbad, NED).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571500" y="4077592"/>
            <a:ext cx="5276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Uvođenje modula za praćenje specifičnih kalibracionih merenja.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571500" y="4938414"/>
            <a:ext cx="5276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Implementacija automatizovanih upozorenja za kritično niske zalihe resursa.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0EA5E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Zaključak</a:t>
            </a:r>
            <a:r>
              <a:rPr lang="en-US" sz="3450" b="0" i="0" u="none" strike="noStrike" cap="non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i dalji razvoj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656180-A69D-C62A-D9CE-0F9CF1DF43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9336" y="2645724"/>
            <a:ext cx="5146427" cy="24827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2535555" y="2967037"/>
            <a:ext cx="712089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 li </a:t>
            </a:r>
            <a:r>
              <a:rPr lang="en-US" sz="6000" b="0" i="0" u="none" strike="noStrike" cap="none" dirty="0" err="1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ima</a:t>
            </a:r>
            <a:r>
              <a:rPr lang="en-US" sz="6000" b="0" i="0" u="none" strike="noStrike" cap="none" dirty="0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6000" b="0" i="0" u="none" strike="noStrike" cap="none" dirty="0" err="1">
                <a:solidFill>
                  <a:srgbClr val="0EA5E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pitanja</a:t>
            </a:r>
            <a:r>
              <a:rPr lang="en-US" sz="6000" b="0" i="0" u="none" strike="noStrike" cap="none" dirty="0">
                <a:solidFill>
                  <a:srgbClr val="0EA5E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?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3"/>
          <p:cNvSpPr txBox="1"/>
          <p:nvPr/>
        </p:nvSpPr>
        <p:spPr>
          <a:xfrm>
            <a:off x="2855595" y="1993701"/>
            <a:ext cx="648081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Hvala na </a:t>
            </a:r>
            <a:r>
              <a:rPr lang="en-US" sz="6000" b="0" i="0" u="none" strike="noStrike" cap="none">
                <a:solidFill>
                  <a:srgbClr val="0EA5E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pažnji!</a:t>
            </a:r>
            <a:endParaRPr/>
          </a:p>
        </p:txBody>
      </p:sp>
      <p:sp>
        <p:nvSpPr>
          <p:cNvPr id="215" name="Google Shape;215;p23"/>
          <p:cNvSpPr/>
          <p:nvPr/>
        </p:nvSpPr>
        <p:spPr>
          <a:xfrm>
            <a:off x="5524500" y="3393876"/>
            <a:ext cx="1143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 txBox="1"/>
          <p:nvPr/>
        </p:nvSpPr>
        <p:spPr>
          <a:xfrm>
            <a:off x="4910137" y="3830278"/>
            <a:ext cx="23717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akarisik5624rn@raf.rs</a:t>
            </a:r>
            <a:endParaRPr dirty="0"/>
          </a:p>
        </p:txBody>
      </p:sp>
      <p:sp>
        <p:nvSpPr>
          <p:cNvPr id="217" name="Google Shape;217;p23"/>
          <p:cNvSpPr txBox="1"/>
          <p:nvPr/>
        </p:nvSpPr>
        <p:spPr>
          <a:xfrm>
            <a:off x="4798217" y="4236543"/>
            <a:ext cx="2595564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bmirkovic6524rn@raf.rs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477</Words>
  <Application>Microsoft Office PowerPoint</Application>
  <PresentationFormat>Widescreen</PresentationFormat>
  <Paragraphs>65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Montserrat SemiBold</vt:lpstr>
      <vt:lpstr>Calibri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Abdullah Karisik</cp:lastModifiedBy>
  <cp:revision>1</cp:revision>
  <dcterms:modified xsi:type="dcterms:W3CDTF">2026-06-01T12:20:56Z</dcterms:modified>
</cp:coreProperties>
</file>